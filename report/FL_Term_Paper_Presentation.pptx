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0A5FA"/>
                </a:solidFill>
              </a:rPr>
              <a:t>FEDERATED LEARNING WITH DIFFERENTIAL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78BFA"/>
                </a:solidFill>
              </a:rPr>
              <a:t>DP-SCAFFOLD &amp; ULDP-FL: Privacy and Inference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Term Paper  |  BDS Federated Learning Course  |  Jan–April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Flower 1.29  •  PyTorch 2.11  •  MNIST &amp; FashionMNIST  •  C ∈ {10, 50, 100}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92608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DP-SCAFFOLD (AISTATS 2022)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4754880"/>
            <a:ext cx="2926080" cy="365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754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ULDP-FL (VLDB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4754880"/>
            <a:ext cx="2926080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4754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30+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Why Privacy Matters in Federated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94A3B8"/>
                </a:solidFill>
              </a:rPr>
              <a:t>  • FL shares gradient updates — these can leak training data via Gradient Inversion Attacks</a:t>
            </a:r>
          </a:p>
          <a:p>
            <a:pPr algn="l"/>
            <a:r>
              <a:rPr sz="1700">
                <a:solidFill>
                  <a:srgbClr val="94A3B8"/>
                </a:solidFill>
              </a:rPr>
              <a:t>  • Membership Inference Attacks can determine if a sample was used in training</a:t>
            </a:r>
          </a:p>
          <a:p>
            <a:pPr algn="l"/>
            <a:r>
              <a:rPr sz="1700">
                <a:solidFill>
                  <a:srgbClr val="94A3B8"/>
                </a:solidFill>
              </a:rPr>
              <a:t>  • Category 1 Focus: Privacy &amp; Inference — quantify and reduce information leakage</a:t>
            </a:r>
          </a:p>
          <a:p>
            <a:pPr algn="l"/>
            <a:r>
              <a:rPr sz="1700">
                <a:solidFill>
                  <a:srgbClr val="94A3B8"/>
                </a:solidFill>
              </a:rPr>
              <a:t>  • Need formal guarantees: Differential Privacy provides (ε, δ)-DP bounds</a:t>
            </a:r>
          </a:p>
          <a:p>
            <a:pPr algn="l"/>
            <a:r>
              <a:rPr sz="1700">
                <a:solidFill>
                  <a:srgbClr val="94A3B8"/>
                </a:solidFill>
              </a:rPr>
              <a:t>  • Challenge: DP noise + non-IID data heterogeneity → compounding accuracy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005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Research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554480"/>
            <a:ext cx="4297680" cy="1097280"/>
          </a:xfrm>
          <a:prstGeom prst="rect">
            <a:avLst/>
          </a:prstGeom>
          <a:solidFill>
            <a:srgbClr val="1A1F35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0A5FA"/>
                </a:solidFill>
              </a:rPr>
              <a:t>RQ1</a:t>
            </a:r>
          </a:p>
          <a:p>
            <a:r>
              <a:rPr sz="1200">
                <a:solidFill>
                  <a:srgbClr val="94A3B8"/>
                </a:solidFill>
              </a:rPr>
              <a:t> How does α (heterogeneity) affect convergence?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834639"/>
            <a:ext cx="4297680" cy="1097280"/>
          </a:xfrm>
          <a:prstGeom prst="rect">
            <a:avLst/>
          </a:prstGeom>
          <a:solidFill>
            <a:srgbClr val="1A1F35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288036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0A5FA"/>
                </a:solidFill>
              </a:rPr>
              <a:t>RQ2</a:t>
            </a:r>
          </a:p>
          <a:p>
            <a:r>
              <a:rPr sz="1200">
                <a:solidFill>
                  <a:srgbClr val="94A3B8"/>
                </a:solidFill>
              </a:rPr>
              <a:t> DP-SCAFFOLD vs DP-FedAvg privacy-utility trade-off?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114800"/>
            <a:ext cx="4297680" cy="1097280"/>
          </a:xfrm>
          <a:prstGeom prst="rect">
            <a:avLst/>
          </a:prstGeom>
          <a:solidFill>
            <a:srgbClr val="1A1F35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1605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0A5FA"/>
                </a:solidFill>
              </a:rPr>
              <a:t>RQ3</a:t>
            </a:r>
          </a:p>
          <a:p>
            <a:r>
              <a:rPr sz="1200">
                <a:solidFill>
                  <a:srgbClr val="94A3B8"/>
                </a:solidFill>
              </a:rPr>
              <a:t> Does ULDP-FL adaptive clipping beat Group-DP?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749039" cy="5120640"/>
          </a:xfrm>
          <a:prstGeom prst="rect">
            <a:avLst/>
          </a:prstGeom>
          <a:solidFill>
            <a:srgbClr val="1A1F3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4114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FedAvg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002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McMahan et al., 2017</a:t>
            </a:r>
          </a:p>
          <a:p>
            <a:r>
              <a:rPr sz="1300">
                <a:solidFill>
                  <a:srgbClr val="FFFFFF"/>
                </a:solidFill>
              </a:rPr>
              <a:t>• Server samples fraction q of clients</a:t>
            </a:r>
          </a:p>
          <a:p>
            <a:r>
              <a:rPr sz="1300">
                <a:solidFill>
                  <a:srgbClr val="FFFFFF"/>
                </a:solidFill>
              </a:rPr>
              <a:t>• Clients train E=5 local epochs (SGD)</a:t>
            </a:r>
          </a:p>
          <a:p>
            <a:r>
              <a:rPr sz="1300">
                <a:solidFill>
                  <a:srgbClr val="FFFFFF"/>
                </a:solidFill>
              </a:rPr>
              <a:t>• Weighted average aggregation</a:t>
            </a:r>
          </a:p>
          <a:p>
            <a:r>
              <a:rPr sz="1300">
                <a:solidFill>
                  <a:srgbClr val="FFFFFF"/>
                </a:solidFill>
              </a:rPr>
              <a:t>• No privacy guarantee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3749039" cy="5120640"/>
          </a:xfrm>
          <a:prstGeom prst="rect">
            <a:avLst/>
          </a:prstGeom>
          <a:solidFill>
            <a:srgbClr val="1A1F35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749039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115568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DP-SCAFFOLD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002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Noble et al., AISTATS 2022</a:t>
            </a:r>
          </a:p>
          <a:p>
            <a:r>
              <a:rPr sz="1300">
                <a:solidFill>
                  <a:srgbClr val="FFFFFF"/>
                </a:solidFill>
              </a:rPr>
              <a:t>• Control variates cᵢ correct client drift</a:t>
            </a:r>
          </a:p>
          <a:p>
            <a:r>
              <a:rPr sz="1300">
                <a:solidFill>
                  <a:srgbClr val="FFFFFF"/>
                </a:solidFill>
              </a:rPr>
              <a:t>• Per-sample gradient clipping (C=1.0)</a:t>
            </a:r>
          </a:p>
          <a:p>
            <a:r>
              <a:rPr sz="1300">
                <a:solidFill>
                  <a:srgbClr val="FFFFFF"/>
                </a:solidFill>
              </a:rPr>
              <a:t>• Gaussian noise: σ calibrated for ε</a:t>
            </a:r>
          </a:p>
          <a:p>
            <a:r>
              <a:rPr sz="1300">
                <a:solidFill>
                  <a:srgbClr val="FFFFFF"/>
                </a:solidFill>
              </a:rPr>
              <a:t>• RDP privacy accounting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749039" cy="5120640"/>
          </a:xfrm>
          <a:prstGeom prst="rect">
            <a:avLst/>
          </a:prstGeom>
          <a:solidFill>
            <a:srgbClr val="1A1F35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749039" cy="411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15568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ULDP-FL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4A3B8"/>
                </a:solidFill>
              </a:rPr>
              <a:t>Kato et al., VLDB 2024</a:t>
            </a:r>
          </a:p>
          <a:p>
            <a:r>
              <a:rPr sz="1300">
                <a:solidFill>
                  <a:srgbClr val="FFFFFF"/>
                </a:solidFill>
              </a:rPr>
              <a:t>• Cross-silo: each silo has multiple users</a:t>
            </a:r>
          </a:p>
          <a:p>
            <a:r>
              <a:rPr sz="1300">
                <a:solidFill>
                  <a:srgbClr val="FFFFFF"/>
                </a:solidFill>
              </a:rPr>
              <a:t>• Per-user weighted clipping</a:t>
            </a:r>
          </a:p>
          <a:p>
            <a:r>
              <a:rPr sz="1300">
                <a:solidFill>
                  <a:srgbClr val="FFFFFF"/>
                </a:solidFill>
              </a:rPr>
              <a:t>• Adaptive clipping reduces bias</a:t>
            </a:r>
          </a:p>
          <a:p>
            <a:r>
              <a:rPr sz="1300">
                <a:solidFill>
                  <a:srgbClr val="FFFFFF"/>
                </a:solidFill>
              </a:rPr>
              <a:t>• User-level (ε,δ)-DP guarantee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Framework:  </a:t>
            </a:r>
            <a:r>
              <a:rPr sz="1400">
                <a:solidFill>
                  <a:srgbClr val="FFFFFF"/>
                </a:solidFill>
              </a:rPr>
              <a:t>Flower 1.29 + Ray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Datasets:  </a:t>
            </a:r>
            <a:r>
              <a:rPr sz="1400">
                <a:solidFill>
                  <a:srgbClr val="FFFFFF"/>
                </a:solidFill>
              </a:rPr>
              <a:t>MNIST (60K) &amp; FashionMNIST (60K)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1752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Model:  </a:t>
            </a:r>
            <a:r>
              <a:rPr sz="1400">
                <a:solidFill>
                  <a:srgbClr val="FFFFFF"/>
                </a:solidFill>
              </a:rPr>
              <a:t>2-Layer MLP: 784→256→128→10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Clients:  </a:t>
            </a:r>
            <a:r>
              <a:rPr sz="1400">
                <a:solidFill>
                  <a:srgbClr val="FFFFFF"/>
                </a:solidFill>
              </a:rPr>
              <a:t>C ∈ {10, 50, 100}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02920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Data Split:  </a:t>
            </a:r>
            <a:r>
              <a:rPr sz="1400">
                <a:solidFill>
                  <a:srgbClr val="FFFFFF"/>
                </a:solidFill>
              </a:rPr>
              <a:t>Dirichlet(α): IID, 1.0, 0.5, 0.1, 0.01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05156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Rounds:  </a:t>
            </a:r>
            <a:r>
              <a:rPr sz="1400">
                <a:solidFill>
                  <a:srgbClr val="FFFFFF"/>
                </a:solidFill>
              </a:rPr>
              <a:t>100 communication rounds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Local Epochs:  </a:t>
            </a:r>
            <a:r>
              <a:rPr sz="1400">
                <a:solidFill>
                  <a:srgbClr val="FFFFFF"/>
                </a:solidFill>
              </a:rPr>
              <a:t>E=5 (DP-SCAFFOLD), E=3 (ULDP)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06324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Privacy ε:  </a:t>
            </a:r>
            <a:r>
              <a:rPr sz="1400">
                <a:solidFill>
                  <a:srgbClr val="FFFFFF"/>
                </a:solidFill>
              </a:rPr>
              <a:t>ε ∈ {5.0, 13.0}, δ=10⁻⁵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690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Clip Threshold:  </a:t>
            </a:r>
            <a:r>
              <a:rPr sz="1400">
                <a:solidFill>
                  <a:srgbClr val="FFFFFF"/>
                </a:solidFill>
              </a:rPr>
              <a:t>C = 1.0 (all DP methods)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029200"/>
            <a:ext cx="5486400" cy="822960"/>
          </a:xfrm>
          <a:prstGeom prst="rect">
            <a:avLst/>
          </a:prstGeom>
          <a:solidFill>
            <a:srgbClr val="1A1F35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07492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0A5FA"/>
                </a:solidFill>
              </a:rPr>
              <a:t>Optimizer:  </a:t>
            </a:r>
            <a:r>
              <a:rPr sz="1400">
                <a:solidFill>
                  <a:srgbClr val="FFFFFF"/>
                </a:solidFill>
              </a:rPr>
              <a:t>SGD, lr=0.01, momentum=0.9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</a:rPr>
              <a:t>Results — FedAvg Baseline (MNIST)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accuracy_vs_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21435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4A3B8"/>
                </a:solidFill>
              </a:rPr>
              <a:t>  • IID: 98.1% (C=10), 97.3% (C=50), 96.3% (C=100)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α=0.5: ~95–96% across all client counts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α=0.1: 75% (C=10), oscillates heavily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α=0.01: 23% — catastrophic non-convergence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More clients → slower per-round convergence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Heterogeneity is the #1 performance factor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</a:rPr>
              <a:t>IID vs Non-IID Heterogeneity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3_iid_vs_noni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62916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</a:rPr>
              <a:t>Privacy-Utility Trade-off (RQ2)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4_privacy_mi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2067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MI-AUC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4A3B8"/>
                </a:solidFill>
              </a:rPr>
              <a:t>  • MI-AUC = 0.5 → perfect privacy (random guess)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MI-AUC = 1.0 → complete privacy failure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FedAvg (no DP): MI-AUC up to 0.9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DP-FedAvg ε=5: MI-AUC ≈ 0.5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DP-SCAFFOLD ε=5: MI-AUC ≈ 0.5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ε=13 (looser): slight MI-AUC rise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DP-SCAFFOLD faster convergence than DP-FedAvg at same 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</a:rPr>
              <a:t>Baseline vs DP Methods — Final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5_b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430000" cy="4823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</a:rPr>
              <a:t>ULDP-FL: User-Level DP Results (RQ3)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6_uldp_vs_group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498079" cy="2067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ULDP-FL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4A3B8"/>
                </a:solidFill>
              </a:rPr>
              <a:t>  • ULDP-AVG (adaptive) &gt; Group-DP at all ε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Accuracy gap: 3–8% in favor of ULDP-AVG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Gap larger with fewer silos (C=10)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ε=13 reduces gap vs ε=5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Adaptive clipping reduces noise bias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Confirms Kato et al. VLDB 2024 findings</a:t>
            </a:r>
          </a:p>
          <a:p>
            <a:pPr algn="l"/>
            <a:r>
              <a:rPr sz="1300">
                <a:solidFill>
                  <a:srgbClr val="94A3B8"/>
                </a:solidFill>
              </a:rPr>
              <a:t>  • Cross-silo design suits hospital/bank FL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0A5FA"/>
                </a:solidFill>
              </a:rPr>
              <a:t>Key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256032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789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051560"/>
            <a:ext cx="18288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0789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IID Acc.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51560"/>
            <a:ext cx="18288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0789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α=0.5 Acc.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51560"/>
            <a:ext cx="18288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0789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α=0.1 Acc.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051560"/>
            <a:ext cx="18288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07899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α=0.01 Acc.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08760"/>
            <a:ext cx="256032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536192"/>
            <a:ext cx="24688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MNIST C=10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508760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153619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98.13%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508760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153619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95.96%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508760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153619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75.05%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1508760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536192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23.07%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258568"/>
            <a:ext cx="256032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286000"/>
            <a:ext cx="24688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MNIST C=50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2258568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360" y="2286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97.25%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2258568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59" y="2286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96.74%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258568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2286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91.90%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258568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22860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27.52%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08376"/>
            <a:ext cx="256032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035808"/>
            <a:ext cx="24688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MNIST C=100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008376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035808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96.27%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008376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59" y="3035808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95.64%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008376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59" y="3035808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34D399"/>
                </a:solidFill>
              </a:rPr>
              <a:t>94.56%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3008376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3035808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39.58%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758183"/>
            <a:ext cx="256032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785615"/>
            <a:ext cx="24688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FMNIST C=10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758183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785615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88.66%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3758183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59" y="3785615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83.72%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758183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59" y="3785615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67.12%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3758183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60" y="3785615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16.46%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507992"/>
            <a:ext cx="256032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535424"/>
            <a:ext cx="24688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FMNIST C=50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4507992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453542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87.37%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4507992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59" y="453542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83.89%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4507992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59" y="453542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74.68%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21040" y="4507992"/>
            <a:ext cx="1828800" cy="68580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66760" y="4535424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10.09%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5257800"/>
            <a:ext cx="256032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5285231"/>
            <a:ext cx="24688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60A5FA"/>
                </a:solidFill>
              </a:rPr>
              <a:t>FMNIST C=100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640" y="5257800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80360" y="5285231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86.50%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5257800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9159" y="5285231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85.62%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5257800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59" y="5285231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BBF24"/>
                </a:solidFill>
              </a:rPr>
              <a:t>74.04%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5257800"/>
            <a:ext cx="1828800" cy="685800"/>
          </a:xfrm>
          <a:prstGeom prst="rect">
            <a:avLst/>
          </a:prstGeom>
          <a:solidFill>
            <a:srgbClr val="16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66760" y="5285231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87171"/>
                </a:solidFill>
              </a:rPr>
              <a:t>38.40%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338560" cy="1554480"/>
          </a:xfrm>
          <a:prstGeom prst="rect">
            <a:avLst/>
          </a:prstGeom>
          <a:solidFill>
            <a:srgbClr val="1A1F35"/>
          </a:solidFill>
          <a:ln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64008" cy="1554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0A5FA"/>
                </a:solidFill>
              </a:rPr>
              <a:t>RQ1: Data Heterogeneity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α=0.01 causes catastrophic non-convergence. IID outperforms non-IID by up to 75% in extreme cases. Control variates (SCAFFOLD) partially mitigate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88920"/>
            <a:ext cx="11338560" cy="1554480"/>
          </a:xfrm>
          <a:prstGeom prst="rect">
            <a:avLst/>
          </a:prstGeom>
          <a:solidFill>
            <a:srgbClr val="1A1F35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64008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A78BFA"/>
                </a:solidFill>
              </a:rPr>
              <a:t>RQ2: Privacy-Utility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DP costs 15–30% accuracy at ε=5. DP-SCAFFOLD converges faster than DP-FedAvg under non-IID, validating the AISTATS 2022 paper findings.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26279"/>
            <a:ext cx="11338560" cy="1554480"/>
          </a:xfrm>
          <a:prstGeom prst="rect">
            <a:avLst/>
          </a:prstGeom>
          <a:solidFill>
            <a:srgbClr val="1A1F35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526279"/>
            <a:ext cx="64008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17719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34D399"/>
                </a:solidFill>
              </a:rPr>
              <a:t>RQ3: ULDP-FL Adaptive Clipping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19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94A3B8"/>
                </a:solidFill>
              </a:rPr>
              <a:t>ULDP-AVG outperforms Group-DP by 3–8% at equal privacy budgets. Adaptive per-user sensitivity estimation is key to the 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868680"/>
            <a:ext cx="365760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3385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94A3B8"/>
                </a:solidFill>
              </a:rPr>
              <a:t>  • [1] McMahan et al. (2017). Communication-Efficient Learning of Deep Networks. AISTATS.</a:t>
            </a:r>
          </a:p>
          <a:p>
            <a:pPr algn="l"/>
            <a:r>
              <a:rPr sz="1500">
                <a:solidFill>
                  <a:srgbClr val="94A3B8"/>
                </a:solidFill>
              </a:rPr>
              <a:t>  • [2] Noble et al. (2022). Differentially Private Federated Learning on Heterogeneous Data. AISTATS.</a:t>
            </a:r>
          </a:p>
          <a:p>
            <a:pPr algn="l"/>
            <a:r>
              <a:rPr sz="1500">
                <a:solidFill>
                  <a:srgbClr val="94A3B8"/>
                </a:solidFill>
              </a:rPr>
              <a:t>  • [3] Kato et al. (2024). ULDP-FL: Federated Learning with User-Level Differential Privacy. VLDB.</a:t>
            </a:r>
          </a:p>
          <a:p>
            <a:pPr algn="l"/>
            <a:r>
              <a:rPr sz="1500">
                <a:solidFill>
                  <a:srgbClr val="94A3B8"/>
                </a:solidFill>
              </a:rPr>
              <a:t>  • [4] Mironov (2017). Rényi Differential Privacy. IEEE CSF.</a:t>
            </a:r>
          </a:p>
          <a:p>
            <a:pPr algn="l"/>
            <a:r>
              <a:rPr sz="1500">
                <a:solidFill>
                  <a:srgbClr val="94A3B8"/>
                </a:solidFill>
              </a:rPr>
              <a:t>  • [5] Abadi et al. (2016). Deep Learning with Differential Privacy. ACM CCS.</a:t>
            </a:r>
          </a:p>
          <a:p>
            <a:pPr algn="l"/>
            <a:r>
              <a:rPr sz="1500">
                <a:solidFill>
                  <a:srgbClr val="94A3B8"/>
                </a:solidFill>
              </a:rPr>
              <a:t>  • [6] Beutel et al. (2022). Flower: A Friendly Federated Learning Framework. arXiv:2007.14390.</a:t>
            </a:r>
          </a:p>
          <a:p>
            <a:pPr algn="l"/>
            <a:r>
              <a:rPr sz="1500">
                <a:solidFill>
                  <a:srgbClr val="94A3B8"/>
                </a:solidFill>
              </a:rPr>
              <a:t>  • [7] Dwork &amp; Roth (2014). Algorithmic Foundations of Differential Privacy. Foundations &amp;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